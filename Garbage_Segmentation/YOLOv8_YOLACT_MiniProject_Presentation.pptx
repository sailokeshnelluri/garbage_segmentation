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54" r:id="rId12"/>
    <p:sldId id="345" r:id="rId13"/>
    <p:sldId id="346" r:id="rId14"/>
    <p:sldId id="352" r:id="rId15"/>
    <p:sldId id="353" r:id="rId16"/>
    <p:sldId id="349" r:id="rId17"/>
    <p:sldId id="32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C717D-03AE-4315-BF15-CC9D25272277}" v="8" dt="2026-04-02T05:33:03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>
      <p:cViewPr>
        <p:scale>
          <a:sx n="91" d="100"/>
          <a:sy n="91" d="100"/>
        </p:scale>
        <p:origin x="16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sh111437@gmail.com" userId="3ca45dfc58ba5229" providerId="LiveId" clId="{0DE32B74-5648-47D1-B4D7-3EB87CA68681}"/>
    <pc:docChg chg="undo custSel addSld modSld">
      <pc:chgData name="sandesh111437@gmail.com" userId="3ca45dfc58ba5229" providerId="LiveId" clId="{0DE32B74-5648-47D1-B4D7-3EB87CA68681}" dt="2026-04-02T05:43:32.396" v="221" actId="20577"/>
      <pc:docMkLst>
        <pc:docMk/>
      </pc:docMkLst>
      <pc:sldChg chg="modSp mod">
        <pc:chgData name="sandesh111437@gmail.com" userId="3ca45dfc58ba5229" providerId="LiveId" clId="{0DE32B74-5648-47D1-B4D7-3EB87CA68681}" dt="2026-04-02T04:47:03.484" v="197" actId="20577"/>
        <pc:sldMkLst>
          <pc:docMk/>
          <pc:sldMk cId="0" sldId="256"/>
        </pc:sldMkLst>
        <pc:spChg chg="mod">
          <ac:chgData name="sandesh111437@gmail.com" userId="3ca45dfc58ba5229" providerId="LiveId" clId="{0DE32B74-5648-47D1-B4D7-3EB87CA68681}" dt="2026-04-01T07:24:31.466" v="134" actId="1036"/>
          <ac:spMkLst>
            <pc:docMk/>
            <pc:sldMk cId="0" sldId="256"/>
            <ac:spMk id="4" creationId="{87133BE8-A87E-4DBC-98E8-2FD6622AA548}"/>
          </ac:spMkLst>
        </pc:spChg>
        <pc:spChg chg="mod">
          <ac:chgData name="sandesh111437@gmail.com" userId="3ca45dfc58ba5229" providerId="LiveId" clId="{0DE32B74-5648-47D1-B4D7-3EB87CA68681}" dt="2026-04-01T07:23:24.110" v="132" actId="20577"/>
          <ac:spMkLst>
            <pc:docMk/>
            <pc:sldMk cId="0" sldId="256"/>
            <ac:spMk id="7" creationId="{81E9BB19-E97E-45D3-BB72-E34CC7BF07BD}"/>
          </ac:spMkLst>
        </pc:spChg>
        <pc:spChg chg="mod">
          <ac:chgData name="sandesh111437@gmail.com" userId="3ca45dfc58ba5229" providerId="LiveId" clId="{0DE32B74-5648-47D1-B4D7-3EB87CA68681}" dt="2026-04-02T04:47:03.484" v="197" actId="20577"/>
          <ac:spMkLst>
            <pc:docMk/>
            <pc:sldMk cId="0" sldId="256"/>
            <ac:spMk id="9" creationId="{C3034EB3-E5B7-485E-984F-A0E903E0E9A7}"/>
          </ac:spMkLst>
        </pc:spChg>
        <pc:spChg chg="mod">
          <ac:chgData name="sandesh111437@gmail.com" userId="3ca45dfc58ba5229" providerId="LiveId" clId="{0DE32B74-5648-47D1-B4D7-3EB87CA68681}" dt="2026-04-01T07:24:26.772" v="133" actId="255"/>
          <ac:spMkLst>
            <pc:docMk/>
            <pc:sldMk cId="0" sldId="256"/>
            <ac:spMk id="10" creationId="{EB366ABC-1782-4359-A4C5-6579CEFE1A4B}"/>
          </ac:spMkLst>
        </pc:spChg>
        <pc:graphicFrameChg chg="modGraphic">
          <ac:chgData name="sandesh111437@gmail.com" userId="3ca45dfc58ba5229" providerId="LiveId" clId="{0DE32B74-5648-47D1-B4D7-3EB87CA68681}" dt="2026-04-01T07:22:04.527" v="96" actId="20577"/>
          <ac:graphicFrameMkLst>
            <pc:docMk/>
            <pc:sldMk cId="0" sldId="256"/>
            <ac:graphicFrameMk id="12" creationId="{4B4BF96B-13BF-42E1-B330-96082705FEC5}"/>
          </ac:graphicFrameMkLst>
        </pc:graphicFrameChg>
      </pc:sldChg>
      <pc:sldChg chg="modSp mod">
        <pc:chgData name="sandesh111437@gmail.com" userId="3ca45dfc58ba5229" providerId="LiveId" clId="{0DE32B74-5648-47D1-B4D7-3EB87CA68681}" dt="2026-04-01T07:25:44.278" v="140" actId="255"/>
        <pc:sldMkLst>
          <pc:docMk/>
          <pc:sldMk cId="0" sldId="327"/>
        </pc:sldMkLst>
        <pc:spChg chg="mod">
          <ac:chgData name="sandesh111437@gmail.com" userId="3ca45dfc58ba5229" providerId="LiveId" clId="{0DE32B74-5648-47D1-B4D7-3EB87CA68681}" dt="2026-04-01T07:25:44.278" v="140" actId="255"/>
          <ac:spMkLst>
            <pc:docMk/>
            <pc:sldMk cId="0" sldId="327"/>
            <ac:spMk id="3" creationId="{A815A160-9E89-4EFA-87F2-5AD9612AF7E2}"/>
          </ac:spMkLst>
        </pc:spChg>
      </pc:sldChg>
      <pc:sldChg chg="modSp mod">
        <pc:chgData name="sandesh111437@gmail.com" userId="3ca45dfc58ba5229" providerId="LiveId" clId="{0DE32B74-5648-47D1-B4D7-3EB87CA68681}" dt="2026-04-02T05:43:02.994" v="220" actId="20577"/>
        <pc:sldMkLst>
          <pc:docMk/>
          <pc:sldMk cId="0" sldId="329"/>
        </pc:sldMkLst>
        <pc:spChg chg="mod">
          <ac:chgData name="sandesh111437@gmail.com" userId="3ca45dfc58ba5229" providerId="LiveId" clId="{0DE32B74-5648-47D1-B4D7-3EB87CA68681}" dt="2026-04-02T05:43:02.994" v="220" actId="20577"/>
          <ac:spMkLst>
            <pc:docMk/>
            <pc:sldMk cId="0" sldId="329"/>
            <ac:spMk id="3" creationId="{00000000-0000-0000-0000-000000000000}"/>
          </ac:spMkLst>
        </pc:spChg>
      </pc:sldChg>
      <pc:sldChg chg="modSp mod">
        <pc:chgData name="sandesh111437@gmail.com" userId="3ca45dfc58ba5229" providerId="LiveId" clId="{0DE32B74-5648-47D1-B4D7-3EB87CA68681}" dt="2026-04-01T07:27:46.192" v="149" actId="255"/>
        <pc:sldMkLst>
          <pc:docMk/>
          <pc:sldMk cId="0" sldId="330"/>
        </pc:sldMkLst>
        <pc:spChg chg="mod">
          <ac:chgData name="sandesh111437@gmail.com" userId="3ca45dfc58ba5229" providerId="LiveId" clId="{0DE32B74-5648-47D1-B4D7-3EB87CA68681}" dt="2026-04-01T07:27:46.192" v="149" actId="255"/>
          <ac:spMkLst>
            <pc:docMk/>
            <pc:sldMk cId="0" sldId="330"/>
            <ac:spMk id="6" creationId="{153F79F9-1FE0-3DCC-383B-AD9CC039F066}"/>
          </ac:spMkLst>
        </pc:spChg>
      </pc:sldChg>
      <pc:sldChg chg="modSp mod">
        <pc:chgData name="sandesh111437@gmail.com" userId="3ca45dfc58ba5229" providerId="LiveId" clId="{0DE32B74-5648-47D1-B4D7-3EB87CA68681}" dt="2026-04-02T05:43:32.396" v="221" actId="20577"/>
        <pc:sldMkLst>
          <pc:docMk/>
          <pc:sldMk cId="0" sldId="335"/>
        </pc:sldMkLst>
        <pc:spChg chg="mod">
          <ac:chgData name="sandesh111437@gmail.com" userId="3ca45dfc58ba5229" providerId="LiveId" clId="{0DE32B74-5648-47D1-B4D7-3EB87CA68681}" dt="2026-04-02T05:43:32.396" v="221" actId="20577"/>
          <ac:spMkLst>
            <pc:docMk/>
            <pc:sldMk cId="0" sldId="335"/>
            <ac:spMk id="3" creationId="{00000000-0000-0000-0000-000000000000}"/>
          </ac:spMkLst>
        </pc:spChg>
      </pc:sldChg>
      <pc:sldChg chg="modSp mod">
        <pc:chgData name="sandesh111437@gmail.com" userId="3ca45dfc58ba5229" providerId="LiveId" clId="{0DE32B74-5648-47D1-B4D7-3EB87CA68681}" dt="2026-04-01T07:31:54.722" v="184" actId="27636"/>
        <pc:sldMkLst>
          <pc:docMk/>
          <pc:sldMk cId="3445692945" sldId="349"/>
        </pc:sldMkLst>
        <pc:spChg chg="mod">
          <ac:chgData name="sandesh111437@gmail.com" userId="3ca45dfc58ba5229" providerId="LiveId" clId="{0DE32B74-5648-47D1-B4D7-3EB87CA68681}" dt="2026-04-01T07:29:22.114" v="150" actId="5793"/>
          <ac:spMkLst>
            <pc:docMk/>
            <pc:sldMk cId="3445692945" sldId="349"/>
            <ac:spMk id="8" creationId="{00000000-0000-0000-0000-000000000000}"/>
          </ac:spMkLst>
        </pc:spChg>
        <pc:spChg chg="mod">
          <ac:chgData name="sandesh111437@gmail.com" userId="3ca45dfc58ba5229" providerId="LiveId" clId="{0DE32B74-5648-47D1-B4D7-3EB87CA68681}" dt="2026-04-01T07:31:54.722" v="184" actId="27636"/>
          <ac:spMkLst>
            <pc:docMk/>
            <pc:sldMk cId="3445692945" sldId="349"/>
            <ac:spMk id="99" creationId="{00000000-0000-0000-0000-000000000000}"/>
          </ac:spMkLst>
        </pc:spChg>
      </pc:sldChg>
      <pc:sldChg chg="modSp mod">
        <pc:chgData name="sandesh111437@gmail.com" userId="3ca45dfc58ba5229" providerId="LiveId" clId="{0DE32B74-5648-47D1-B4D7-3EB87CA68681}" dt="2026-04-01T07:26:11.896" v="142" actId="255"/>
        <pc:sldMkLst>
          <pc:docMk/>
          <pc:sldMk cId="2786579017" sldId="350"/>
        </pc:sldMkLst>
        <pc:spChg chg="mod">
          <ac:chgData name="sandesh111437@gmail.com" userId="3ca45dfc58ba5229" providerId="LiveId" clId="{0DE32B74-5648-47D1-B4D7-3EB87CA68681}" dt="2026-04-01T07:26:11.896" v="142" actId="255"/>
          <ac:spMkLst>
            <pc:docMk/>
            <pc:sldMk cId="2786579017" sldId="350"/>
            <ac:spMk id="4" creationId="{6CE7D5AF-E7FA-CA07-9D90-D8FD812F3F68}"/>
          </ac:spMkLst>
        </pc:spChg>
      </pc:sldChg>
      <pc:sldChg chg="modSp mod">
        <pc:chgData name="sandesh111437@gmail.com" userId="3ca45dfc58ba5229" providerId="LiveId" clId="{0DE32B74-5648-47D1-B4D7-3EB87CA68681}" dt="2026-04-01T07:31:45.255" v="181" actId="20577"/>
        <pc:sldMkLst>
          <pc:docMk/>
          <pc:sldMk cId="2395761429" sldId="352"/>
        </pc:sldMkLst>
        <pc:spChg chg="mod">
          <ac:chgData name="sandesh111437@gmail.com" userId="3ca45dfc58ba5229" providerId="LiveId" clId="{0DE32B74-5648-47D1-B4D7-3EB87CA68681}" dt="2026-04-01T07:30:04.738" v="170" actId="20577"/>
          <ac:spMkLst>
            <pc:docMk/>
            <pc:sldMk cId="2395761429" sldId="352"/>
            <ac:spMk id="2" creationId="{00000000-0000-0000-0000-000000000000}"/>
          </ac:spMkLst>
        </pc:spChg>
        <pc:spChg chg="mod">
          <ac:chgData name="sandesh111437@gmail.com" userId="3ca45dfc58ba5229" providerId="LiveId" clId="{0DE32B74-5648-47D1-B4D7-3EB87CA68681}" dt="2026-04-01T07:31:45.255" v="181" actId="20577"/>
          <ac:spMkLst>
            <pc:docMk/>
            <pc:sldMk cId="2395761429" sldId="352"/>
            <ac:spMk id="10" creationId="{153F79F9-1FE0-3DCC-383B-AD9CC039F066}"/>
          </ac:spMkLst>
        </pc:spChg>
      </pc:sldChg>
      <pc:sldChg chg="addSp delSp modSp new mod">
        <pc:chgData name="sandesh111437@gmail.com" userId="3ca45dfc58ba5229" providerId="LiveId" clId="{0DE32B74-5648-47D1-B4D7-3EB87CA68681}" dt="2026-04-01T07:33:09.024" v="195" actId="14100"/>
        <pc:sldMkLst>
          <pc:docMk/>
          <pc:sldMk cId="3788023997" sldId="353"/>
        </pc:sldMkLst>
        <pc:spChg chg="del">
          <ac:chgData name="sandesh111437@gmail.com" userId="3ca45dfc58ba5229" providerId="LiveId" clId="{0DE32B74-5648-47D1-B4D7-3EB87CA68681}" dt="2026-04-01T07:31:54.675" v="183" actId="478"/>
          <ac:spMkLst>
            <pc:docMk/>
            <pc:sldMk cId="3788023997" sldId="353"/>
            <ac:spMk id="2" creationId="{7655298F-8A4B-B1B3-00C2-8DD0BE0FF0E3}"/>
          </ac:spMkLst>
        </pc:spChg>
        <pc:spChg chg="add del mod">
          <ac:chgData name="sandesh111437@gmail.com" userId="3ca45dfc58ba5229" providerId="LiveId" clId="{0DE32B74-5648-47D1-B4D7-3EB87CA68681}" dt="2026-04-01T07:32:09.724" v="188" actId="22"/>
          <ac:spMkLst>
            <pc:docMk/>
            <pc:sldMk cId="3788023997" sldId="353"/>
            <ac:spMk id="3" creationId="{2551CE20-8FD9-123C-FB1A-0DB5D1531422}"/>
          </ac:spMkLst>
        </pc:spChg>
        <pc:picChg chg="add mod ord">
          <ac:chgData name="sandesh111437@gmail.com" userId="3ca45dfc58ba5229" providerId="LiveId" clId="{0DE32B74-5648-47D1-B4D7-3EB87CA68681}" dt="2026-04-01T07:33:05.985" v="194" actId="14100"/>
          <ac:picMkLst>
            <pc:docMk/>
            <pc:sldMk cId="3788023997" sldId="353"/>
            <ac:picMk id="7" creationId="{464C73A6-A8CF-2F35-E50C-475887F6648D}"/>
          </ac:picMkLst>
        </pc:picChg>
        <pc:picChg chg="add mod">
          <ac:chgData name="sandesh111437@gmail.com" userId="3ca45dfc58ba5229" providerId="LiveId" clId="{0DE32B74-5648-47D1-B4D7-3EB87CA68681}" dt="2026-04-01T07:33:09.024" v="195" actId="14100"/>
          <ac:picMkLst>
            <pc:docMk/>
            <pc:sldMk cId="3788023997" sldId="353"/>
            <ac:picMk id="9" creationId="{4EC5F6F0-EFD2-147D-5FC8-EBB485A54763}"/>
          </ac:picMkLst>
        </pc:picChg>
      </pc:sldChg>
      <pc:sldChg chg="addSp delSp modSp new mod">
        <pc:chgData name="sandesh111437@gmail.com" userId="3ca45dfc58ba5229" providerId="LiveId" clId="{0DE32B74-5648-47D1-B4D7-3EB87CA68681}" dt="2026-04-02T05:33:04.816" v="202"/>
        <pc:sldMkLst>
          <pc:docMk/>
          <pc:sldMk cId="2178258957" sldId="354"/>
        </pc:sldMkLst>
        <pc:spChg chg="del">
          <ac:chgData name="sandesh111437@gmail.com" userId="3ca45dfc58ba5229" providerId="LiveId" clId="{0DE32B74-5648-47D1-B4D7-3EB87CA68681}" dt="2026-04-02T05:33:00.294" v="199" actId="478"/>
          <ac:spMkLst>
            <pc:docMk/>
            <pc:sldMk cId="2178258957" sldId="354"/>
            <ac:spMk id="2" creationId="{45D47564-8809-E4B1-4DF1-648F1D5B433D}"/>
          </ac:spMkLst>
        </pc:spChg>
        <pc:spChg chg="del mod">
          <ac:chgData name="sandesh111437@gmail.com" userId="3ca45dfc58ba5229" providerId="LiveId" clId="{0DE32B74-5648-47D1-B4D7-3EB87CA68681}" dt="2026-04-02T05:33:04.816" v="202"/>
          <ac:spMkLst>
            <pc:docMk/>
            <pc:sldMk cId="2178258957" sldId="354"/>
            <ac:spMk id="3" creationId="{AABBAFE4-0AFE-F38F-0766-AB28642671AA}"/>
          </ac:spMkLst>
        </pc:spChg>
        <pc:picChg chg="add mod ord">
          <ac:chgData name="sandesh111437@gmail.com" userId="3ca45dfc58ba5229" providerId="LiveId" clId="{0DE32B74-5648-47D1-B4D7-3EB87CA68681}" dt="2026-04-02T05:33:04.816" v="202"/>
          <ac:picMkLst>
            <pc:docMk/>
            <pc:sldMk cId="2178258957" sldId="354"/>
            <ac:picMk id="7" creationId="{23457F31-90A3-0FE0-1121-87F4D4FBDBA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22860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AND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2060"/>
                </a:solidFill>
              </a:rPr>
              <a:t>Dr. Chunduri Madhurya 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</a:t>
            </a:r>
            <a:r>
              <a:rPr lang="en-US" sz="2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23MPCS-G14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YOLOv8-YOLACT Hybrid Framework for Real-Time Garbage Classification and Segmentation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46676"/>
              </p:ext>
            </p:extLst>
          </p:nvPr>
        </p:nvGraphicFramePr>
        <p:xfrm>
          <a:off x="1219200" y="2971800"/>
          <a:ext cx="6934200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Kondreddy Nava Sandesh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Nelluri Sai Lokesh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Dokuru Rakshitha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Research Paper (Acceptance Proofs)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What is the Problem?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Global surge in solid waste causes major environmental, economic and public health challenges.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Incorrect disposal leads to soil/water pollution, greenhouse gases and spread of disease.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Manual waste sorting is slow, error-prone and exposes workers to hazardous materials</a:t>
            </a:r>
            <a:r>
              <a:rPr lang="en-US" sz="1600" dirty="0"/>
              <a:t>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Why Deep Learning?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CNN-based systems improved automated waste classification over traditional methods.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YOLO (You Only Look Once) enabled real-time single-stage object detection.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YOLACT introduced prototype-based mask generation for fast instance segmentation.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Our Approach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YOLOv8-YOLACT hybrid framework for automated, real-time garbage classification and segmentation.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Detects and segments: Plastic, Metal, Glass, Paper, Organic, Styrofoam, Battery and more.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Suitable for smart bins, recycling centers and automated waste monitoring systems.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Existing Systems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Manual sorting: labor-intensive, inconsistent, exposes workers to biohazards.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Traditional ML/CNN models: limited accuracy in cluttered real-world environments.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Detection-only YOLO models: no pixel-level segmentation, poor boundary localization.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Mask R-CNN: high accuracy but too slow for real-time deployment (two-stage).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Proposed System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YOLOv8 Instance Segmentation with YOLACT-inspired prototype-based mask generation.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Single-stage detection + segmentation in one unified real-time pipeline.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Handles occlusion, poor lighting and cluttered environments effectively.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Achieves overall mAP50 = 0.880 and Mask mAP50 = 0.831 across all waste categories.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Deployable on GPU-enabled smart bins, recycling equipment and edge devices.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Gaps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Gaps in Existing Literature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Most CNN-based waste classifiers lack pixel-level instance segmentation capability.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Detection-only YOLO models cannot distinguish overlapping or adjacent waste items.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Two-stage segmentation (Mask R-CNN) is too computationally expensive for real-time use.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Existing datasets lack balanced multi-category polygon-annotated waste images.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Few studies address waste classification under occlusion, low-light and cluttered backgrounds.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YOLACT-inspired prototype mask generation has not been applied broadly to waste management.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Limited scalability of existing solutions for smart city and large-scale industrial deployment.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How This Work Fills the Gaps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Combines YOLOv8 speed with prototype masks for accurate real-time instance segmentation.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Trained on a diverse 10-class polygon-annotated waste dataset processed via Roboflow.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700" dirty="0"/>
              <a:t>Validated under adverse conditions: occlusion, varying lighting, messy backgrounds.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Context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50" dirty="0"/>
              <a:t>Rapid urbanization has led to exponential growth in solid waste generation, creating serious environmental and public health hazards. Conventional manual sorting is inefficient, hazardous and not scalable.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Limitation of Current Automated Systems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50" dirty="0"/>
              <a:t>Existing CNN and YOLO-based methods lack pixel-level segmentation of individual waste items, especially in cluttered, overlapping environments. Multi-stage methods like Mask R-CNN are too slow for real-time applications.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What is Needed?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 unified real-time framework combining fast detection with precise instance segmentation.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Ability to classify multiple waste types simultaneously: plastic, metal, glass, paper, organic.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Robust performance under occlusion, low lighting and complex cluttered backgrounds.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Scalable, deployable solution for smart bins, recycling plants and waste monitoring systems.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Core Objectives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Design and implement a YOLOv8 instance segmentation model with YOLACT-inspired architecture.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Achieve real-time detection and pixel-level segmentation of multiple waste categories simultaneously.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Classify waste into 10+ types: Plastic, Metal, Glass, Paper, Plastic Bag, Battery, Clothing, Styrofoam, Organic.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Train using transfer learning from pre-trained YOLOv8 weights for faster convergence.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Prepare and annotate a multi-class waste dataset using Roboflow with polygon-level labels.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Evaluation Objectives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Evaluate using standard metrics: Precision, Recall, F1-Score, mAP50 and Mask mAP50.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Demonstrate robustness under adverse conditions: occlusion, low lighting, cluttered scenes.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Develop a scalable framework deployable in smart bins, recycling plants and monitoring systems.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Model Performance Outcomes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Overall mAP50 = 0.880 and Mask mAP50 = 0.831 across all 10 waste categories.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High per-class accuracy: Battery 91.7%, Glass 92.2%, Plastic Bag 95.3%, Styrofoam 88.9%.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Real-time GPU inference suitable for practical deployment on edge platforms.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Accurate pixel-level segmentation even for overlapping and partially occluded items.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Application Outcomes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Municipal authorities: improved waste collection efficiency and recycling rates.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Recycling industry: reduced operational costs and increased material recovery.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Smart city: integration into IoT-connected smart waste bins and monitoring platforms.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Worker safety: eliminates direct human contact with hazardous waste materials.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Research Outcome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Submitted IEEE-format research paper demonstrating practical utility of YOLOv8-YOLACT for waste management.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Software Requirements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Language: Python 3.8+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Framework: Ultralytics YOLOv8 (official segmentation framework)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Training Platform: Google Colab with GPU (T4 / A100)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Dataset Management: Roboflow (annotation, preprocessing, export in YOLOv8 format)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Hardware Requirements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GPU: NVIDIA CUDA-enabled (Google Colab T4/A100 used for training)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RAM: 12 GB minimum (16 GB recommended for batch training)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 fontScale="92500" lnSpcReduction="10000"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YOLOv8-YOLACT Hybrid Architecture Overview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1 - Input &amp; Preprocessing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dirty="0"/>
              <a:t>Garbage images resized to 640x640 px, normalized and auto-oriented before model input.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2 - Backbone: CSPDarknet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dirty="0"/>
              <a:t>Extracts multi-scale hierarchical feature maps for both fine-grained and semantic understanding.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3 - Neck: PAN-FPN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Path Aggregation + Feature Pyramid Network aggregates features across scales for multi-size object detection.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4 - Detection Head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Predicts bounding boxes, class probabilities and mask coefficients per detected object.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5 - Prototype Mask Network (YOLACT-Inspired)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Generates global prototype masks. Final masks = linear combination of prototypes + predicted coefficients.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Stage 6 - Post-Processing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NMS removes duplicate predictions. Output: color-coded masks + class labels + confidence scores.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457F31-90A3-0FE0-1121-87F4D4FBD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1546" y="304800"/>
            <a:ext cx="3880908" cy="582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60AE-F624-AAF7-C697-7688518B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937D6-E3EF-D76C-992D-EDFA9EC2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BEF2-95F5-417E-9097-980329164CC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25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Dataset Preparation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Public waste dataset processed via Roboflow with polygon-based segmentation annotations.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10 categories: Plastic, Metal, Glass, Paper, Paper Pack, Plastic Bag, Battery, Clothing, Styrofoam, General Trash.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Train/Val/Test split: 70:20:10 | All images resized to 640x640 px.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Training Strategy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Transfer learning from pre-trained YOLOv8 COCO weights for faster convergence.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Optimizer: Adam | Batch size: 8 | Epochs: </a:t>
            </a:r>
            <a:r>
              <a:rPr lang="en-US" dirty="0"/>
              <a:t>50</a:t>
            </a:r>
            <a:r>
              <a:rPr lang="en-US" sz="1800" dirty="0"/>
              <a:t> | Input: 640x640.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Combined loss: bounding box loss + classification loss + mask segmentation loss.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Validation monitored each epoch; early stopping prevents overfitting.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Inference Pipeline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Model predicts waste class, bounding box and pixel-level instance mask for each item.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NMS filters overlapping duplicate predictions for clean output.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Color-coded segmentation masks visualized with class labels and confidence scores.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Performance Metrics (Overall + Per Class)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All Classes:   mAP50 = 0.880  |  Mask mAP50 = 0.831  |  mAP50-95 = 0.749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Battery:        mAP50 = 0.917  |  Mask mAP50 = 0.917  |  mAP50-95 = 0.888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Glass:          mAP50 = 0.929  |  Mask mAP50 = 0.922  |  mAP50-95 = 0.768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Plastic Bag:  mAP50 = 0.964  |  Mask mAP50 = 0.953  |  mAP50-95 = 0.873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Styrofoam:   mAP50 = 0.956  |  Mask mAP50 = 0.889  |  mAP50-95 = 0.848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Metal:           mAP50 = 0.900  |  Mask mAP50 = 0.899  |  mAP50-95 = 0.750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Paper:          mAP50 = 0.896  |  Mask mAP50 = 0.807  |  mAP50-95 = 0.737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Key Observations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Stable convergence across 30 epochs; validation loss closely tracked training loss.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Box F1 = 0.83 @ 0.475 confidence | Mask F1 = 0.81 @ 0.510 confidence (all classes).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Real-time GPU inference achieved; accurate masks even under occlusion and low-light.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Paper (Submission Proof)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28600" tIns="182880" rIns="228600" bIns="182880"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Research Paper Details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Title: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/>
              <a:t>YOLOv8-YOLACT Hybrid Framework for Real-Time Garbage Classification and Segmentation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Authors: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/>
              <a:t>K. N. Sandesh Reddy, N. Sai Lokesh, D. Rakshitha, C. Madhurya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Affiliation: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/>
              <a:t>Dept. of CSE, Vardhaman College of Engineering, Hyderabad, India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 b="1" dirty="0"/>
              <a:t>Publication Format: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/>
              <a:t>IEEE Conference Paper - Index Terms: Garbage Classification, YOLOv8, YOLACT, Instance Segmentation, Deep Learning, Waste Management.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sz="1800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sz="1800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sz="1800" dirty="0"/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23957614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4C73A6-A8CF-2F35-E50C-475887F66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3351" y="12797"/>
            <a:ext cx="8229600" cy="328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971EC-2FD3-D359-F637-BBC82FAE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9541-A802-49D9-90E2-9528A37C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BEF2-95F5-417E-9097-980329164CCD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C5F6F0-EFD2-147D-5FC8-EBB485A54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0" y="3300663"/>
            <a:ext cx="8277299" cy="314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2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16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99" name="Content 99"/>
          <p:cNvSpPr txBox="1">
            <a:spLocks/>
          </p:cNvSpPr>
          <p:nvPr/>
        </p:nvSpPr>
        <p:spPr>
          <a:xfrm>
            <a:off x="228600" y="1066800"/>
            <a:ext cx="8763000" cy="5562600"/>
          </a:xfrm>
          <a:prstGeom prst="rect">
            <a:avLst/>
          </a:prstGeom>
        </p:spPr>
        <p:txBody>
          <a:bodyPr lIns="228600" tIns="182880" rIns="228600" bIns="182880" rtlCol="0">
            <a:normAutofit fontScale="92500"/>
          </a:bodyPr>
          <a:lstStyle/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Conclusion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Proposed YOLOv8-YOLACT hybrid achieves automated real-time garbage classification and segmentation.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Combines single-stage detection with prototype-based instance segmentation in one pipeline.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Classifies 10+ waste types with overall mAP50 = 0.880 and Mask mAP50 = 0.831.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Robust under occlusion, varying lighting and cluttered real-world waste environments.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Real-time GPU inference confirms practical deployability in smart bins and recycling plants.</a:t>
            </a:r>
          </a:p>
          <a:p>
            <a:pPr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Future Scope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Expand with more diverse datasets to improve generalization across waste types.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Explore YOLOv8l/YOLOv8x variants and advanced augmentation for higher accuracy.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Deploy on Jetson Nano/Raspberry Pi for IoT-connected smart waste bins.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Benchmark against state-of-the-art models; optimize for low-power edge deployment.</a:t>
            </a:r>
          </a:p>
          <a:p>
            <a:pPr fontAlgn="auto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har char="•"/>
            </a:pPr>
            <a:r>
              <a:rPr lang="en-US" sz="1800" dirty="0"/>
              <a:t>Extend to video stream processing for continuous industrial waste monitoring.</a:t>
            </a:r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17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2730</TotalTime>
  <Words>1728</Words>
  <Application>Microsoft Office PowerPoint</Application>
  <PresentationFormat>On-screen Show (4:3)</PresentationFormat>
  <Paragraphs>232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Arial,Sans-Serif</vt:lpstr>
      <vt:lpstr>Calibri</vt:lpstr>
      <vt:lpstr>Office Theme</vt:lpstr>
      <vt:lpstr>    DEPARTMENT OF COMPUTER SCIENCE AND ENGINEERING  </vt:lpstr>
      <vt:lpstr>Mini Project Outlines</vt:lpstr>
      <vt:lpstr>Introduction</vt:lpstr>
      <vt:lpstr>Existing System Vs Proposed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PowerPoint Presentation</vt:lpstr>
      <vt:lpstr>Proposed Method and Algorithms</vt:lpstr>
      <vt:lpstr>Results</vt:lpstr>
      <vt:lpstr>Research Paper (Submission Proof)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sandesh111437@gmail.com</cp:lastModifiedBy>
  <cp:revision>528</cp:revision>
  <dcterms:created xsi:type="dcterms:W3CDTF">2006-08-16T00:00:00Z</dcterms:created>
  <dcterms:modified xsi:type="dcterms:W3CDTF">2026-04-02T05:43:42Z</dcterms:modified>
</cp:coreProperties>
</file>